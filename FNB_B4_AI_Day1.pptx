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32720" y="5120640"/>
            <a:ext cx="2926080" cy="2926080"/>
          </a:xfrm>
          <a:prstGeom prst="ellipse">
            <a:avLst/>
          </a:prstGeom>
          <a:solidFill>
            <a:srgbClr val="142544"/>
          </a:solidFill>
          <a:ln/>
        </p:spPr>
      </p:sp>
      <p:sp>
        <p:nvSpPr>
          <p:cNvPr id="3" name="Shape 1"/>
          <p:cNvSpPr/>
          <p:nvPr/>
        </p:nvSpPr>
        <p:spPr>
          <a:xfrm>
            <a:off x="11430000" y="4206240"/>
            <a:ext cx="1463040" cy="1463040"/>
          </a:xfrm>
          <a:prstGeom prst="ellipse">
            <a:avLst/>
          </a:prstGeom>
          <a:solidFill>
            <a:srgbClr val="E8791A">
              <a:alpha val="8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3716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E87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FNB B4 · INTELLIGENT BANKING SYSTEM BOOTCAMP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874520"/>
            <a:ext cx="98755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Artificial Intelligence — Day 1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 to AI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566160"/>
            <a:ext cx="8961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AI came from, how to categorise it, and how it actually relates to Machine Learning.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61772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7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Track: 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4965192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7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Facilitator: 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Thembani Maswanganyi — Geeks4Learning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5312664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7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Covers: 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 of AI · Types of AI · AI vs ML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Today's Roadmap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457200" cy="457200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234440" y="1362456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History of AI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709928"/>
            <a:ext cx="10241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Turing Test to agentic AI — the milestones worth knowing.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2350008"/>
            <a:ext cx="457200" cy="457200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23500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2295144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Types of AI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2642616"/>
            <a:ext cx="10241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Narrow, General, and Super AI — and where everything you'll build this week sits.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282696"/>
            <a:ext cx="457200" cy="457200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32826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234440" y="3227832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vs ML (vs DL)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3575304"/>
            <a:ext cx="10241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relationship between the three terms people use interchangeably — and shouldn't.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4215384"/>
            <a:ext cx="457200" cy="457200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48640" y="42153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234440" y="416052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This Fits at FNB B4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234440" y="4507992"/>
            <a:ext cx="10241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models, agentic coding tools, and chat support in an Intelligent Banking System.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5148072"/>
            <a:ext cx="457200" cy="457200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48640" y="51480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1234440" y="5093208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Interview Readiness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234440" y="5440680"/>
            <a:ext cx="10241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talk about all of the above with confidence.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FNB B4 AI Bootcamp — Day 1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7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66928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History of AI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234440" y="2743200"/>
            <a:ext cx="9692640" cy="0"/>
          </a:xfrm>
          <a:prstGeom prst="line">
            <a:avLst/>
          </a:prstGeom>
          <a:noFill/>
          <a:ln w="38100">
            <a:solidFill>
              <a:srgbClr val="CADCF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52144" y="2660904"/>
            <a:ext cx="164592" cy="164592"/>
          </a:xfrm>
          <a:prstGeom prst="ellipse">
            <a:avLst/>
          </a:prstGeom>
          <a:solidFill>
            <a:srgbClr val="1F386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02920" y="132588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1950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160020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Turing Test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2075688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Alan Turing asks: “can machines think?”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67584" y="2660904"/>
            <a:ext cx="164592" cy="164592"/>
          </a:xfrm>
          <a:prstGeom prst="ellipse">
            <a:avLst/>
          </a:prstGeom>
          <a:solidFill>
            <a:srgbClr val="E8791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118360" y="301752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854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1956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2118360" y="329184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Dartmouth Workshop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2118360" y="3767328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term “artificial intelligence” is coined.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383024" y="2660904"/>
            <a:ext cx="164592" cy="164592"/>
          </a:xfrm>
          <a:prstGeom prst="ellipse">
            <a:avLst/>
          </a:prstGeom>
          <a:solidFill>
            <a:srgbClr val="1F386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733800" y="132588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1974–80s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3733800" y="160020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Winters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3733800" y="2075688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Funding and hype collapse as early promises outpace results.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998464" y="2660904"/>
            <a:ext cx="164592" cy="164592"/>
          </a:xfrm>
          <a:prstGeom prst="ellipse">
            <a:avLst/>
          </a:prstGeom>
          <a:solidFill>
            <a:srgbClr val="E8791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349240" y="301752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854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1997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349240" y="329184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Blue beats Kasparov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5349240" y="3767328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sign AI could out-perform humans at a complex task.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613904" y="2660904"/>
            <a:ext cx="164592" cy="164592"/>
          </a:xfrm>
          <a:prstGeom prst="ellipse">
            <a:avLst/>
          </a:prstGeom>
          <a:solidFill>
            <a:srgbClr val="1F386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964680" y="132588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2012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6964680" y="160020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breakthrough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6964680" y="2075688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networks start beating older ML methods at scale.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9229344" y="2660904"/>
            <a:ext cx="164592" cy="164592"/>
          </a:xfrm>
          <a:prstGeom prst="ellipse">
            <a:avLst/>
          </a:prstGeom>
          <a:solidFill>
            <a:srgbClr val="E8791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580120" y="301752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854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2022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8580120" y="329184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 goes mainstream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8580120" y="3767328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brings LLMs to the public.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10844784" y="2660904"/>
            <a:ext cx="164592" cy="164592"/>
          </a:xfrm>
          <a:prstGeom prst="ellipse">
            <a:avLst/>
          </a:prstGeom>
          <a:solidFill>
            <a:srgbClr val="1F386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10195560" y="132588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2024+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10195560" y="160020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10195560" y="2075688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that plan, use tools, and act — not just answer.</a:t>
            </a:r>
            <a:endParaRPr lang="en-US" sz="900" dirty="0"/>
          </a:p>
        </p:txBody>
      </p:sp>
      <p:sp>
        <p:nvSpPr>
          <p:cNvPr id="33" name="Text 31"/>
          <p:cNvSpPr txBox="1"/>
          <p:nvPr/>
        </p:nvSpPr>
        <p:spPr>
          <a:xfrm>
            <a:off x="502920" y="539496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 the shape: two winters, then three step-changes in under 15 years. That acceleration is itself a common interview talking point.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FNB B4 AI Bootcamp — Day 1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7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2 — CLASSIFIED BY CAPABILITY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66928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Types of AI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554480"/>
            <a:ext cx="3611880" cy="4297680"/>
          </a:xfrm>
          <a:prstGeom prst="roundRect">
            <a:avLst>
              <a:gd name="adj" fmla="val 2532"/>
            </a:avLst>
          </a:prstGeom>
          <a:solidFill>
            <a:srgbClr val="1F386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1737360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Narrow AI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121408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(Weak AI)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514600"/>
            <a:ext cx="3154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to do one task well. Everything in production today.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3520440"/>
            <a:ext cx="315468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900"/>
              </a:spcAft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Fraud detection models</a:t>
            </a:r>
            <a:endParaRPr lang="en-US" sz="115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Chatbots &amp; recommendation engines</a:t>
            </a:r>
            <a:endParaRPr lang="en-US" sz="115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The agentic tools you'll build this week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297680" y="1554480"/>
            <a:ext cx="3611880" cy="4297680"/>
          </a:xfrm>
          <a:prstGeom prst="roundRect">
            <a:avLst>
              <a:gd name="adj" fmla="val 2532"/>
            </a:avLst>
          </a:prstGeom>
          <a:solidFill>
            <a:srgbClr val="EDF1F9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526280" y="1737360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General AI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4526280" y="2121408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(AGI)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26280" y="2514600"/>
            <a:ext cx="3154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Human-level reasoning across any task — not yet achieved.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4526280" y="3520440"/>
            <a:ext cx="315468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900"/>
              </a:spcAft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Would learn any domain like a human</a:t>
            </a:r>
            <a:endParaRPr lang="en-US" sz="115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Still theoretical / research-stage</a:t>
            </a:r>
            <a:endParaRPr lang="en-US" sz="115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No working example exists today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092440" y="1554480"/>
            <a:ext cx="3611880" cy="4297680"/>
          </a:xfrm>
          <a:prstGeom prst="roundRect">
            <a:avLst>
              <a:gd name="adj" fmla="val 2532"/>
            </a:avLst>
          </a:prstGeom>
          <a:solidFill>
            <a:srgbClr val="EDF1F9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321040" y="1737360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Super AI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8321040" y="2121408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(ASI)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8321040" y="2514600"/>
            <a:ext cx="3154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exceeding human ability across the board.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8321040" y="3520440"/>
            <a:ext cx="315468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900"/>
              </a:spcAft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Hypothetical future stage</a:t>
            </a:r>
            <a:endParaRPr lang="en-US" sz="115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Raises the trust &amp; safety questions you'll cover later this week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FNB B4 AI Bootcamp — Day 1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7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3 — NESTED, NOT INTERCHANGEABLE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66928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vs ML vs DL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852160" cy="4480560"/>
          </a:xfrm>
          <a:prstGeom prst="roundRect">
            <a:avLst>
              <a:gd name="adj" fmla="val 3061"/>
            </a:avLst>
          </a:prstGeom>
          <a:solidFill>
            <a:srgbClr val="1F3864">
              <a:alpha val="22000"/>
            </a:srgbClr>
          </a:solidFill>
          <a:ln w="19050">
            <a:solidFill>
              <a:srgbClr val="1F386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73736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097280" y="2331720"/>
            <a:ext cx="4846320" cy="3383280"/>
          </a:xfrm>
          <a:prstGeom prst="roundRect">
            <a:avLst>
              <a:gd name="adj" fmla="val 4054"/>
            </a:avLst>
          </a:prstGeom>
          <a:solidFill>
            <a:srgbClr val="E8791A">
              <a:alpha val="28000"/>
            </a:srgbClr>
          </a:solidFill>
          <a:ln w="19050">
            <a:solidFill>
              <a:srgbClr val="E8791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25880" y="2487168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85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1691640" y="3063240"/>
            <a:ext cx="3657600" cy="2468880"/>
          </a:xfrm>
          <a:prstGeom prst="roundRect">
            <a:avLst>
              <a:gd name="adj" fmla="val 5556"/>
            </a:avLst>
          </a:prstGeom>
          <a:solidFill>
            <a:srgbClr val="00A896">
              <a:alpha val="35000"/>
            </a:srgbClr>
          </a:solidFill>
          <a:ln w="19050">
            <a:solidFill>
              <a:srgbClr val="00A89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920240" y="3218688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920240" y="3703320"/>
            <a:ext cx="32004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networks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many layers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(e.g. LLMs, CNNs)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6720840" y="1600200"/>
            <a:ext cx="4937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AI:  </a:t>
            </a:r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technique that lets a machine mimic intelligent behaviour — including simple rule-based logic.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6720840" y="2834640"/>
            <a:ext cx="4937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ML:  </a:t>
            </a:r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subset of AI where the system learns patterns from data instead of following hand-written rules.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6720840" y="4069080"/>
            <a:ext cx="4937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DL:  </a:t>
            </a:r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subset of ML using multi-layer neural networks — what powers today's LLMs and computer vision.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6720840" y="5440680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line: “All deep learning is machine learning, and all machine learning is AI — but not the other way round.”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FNB B4 AI Bootcamp — Day 1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7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3, CONTINUED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66928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vs ML — Key Differences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11155680" cy="548640"/>
          </a:xfrm>
          <a:prstGeom prst="roundRect">
            <a:avLst>
              <a:gd name="adj" fmla="val 10000"/>
            </a:avLst>
          </a:prstGeom>
          <a:solidFill>
            <a:srgbClr val="1F386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3154680" y="1600200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Rule-Based AI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543800" y="1600200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Machine Learning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2920" y="2148840"/>
            <a:ext cx="11155680" cy="960120"/>
          </a:xfrm>
          <a:prstGeom prst="rect">
            <a:avLst/>
          </a:prstGeom>
          <a:solidFill>
            <a:srgbClr val="EDF1F9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2148840"/>
            <a:ext cx="2194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3154680" y="2148840"/>
            <a:ext cx="40233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be rule-based (“if this, then that”) or learned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7543800" y="2148840"/>
            <a:ext cx="40233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learns patterns from historical data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02920" y="3108960"/>
            <a:ext cx="11155680" cy="9601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3108960"/>
            <a:ext cx="2194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data?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3154680" y="3108960"/>
            <a:ext cx="40233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necessarily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7543800" y="3108960"/>
            <a:ext cx="40233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training data — the more relevant, the better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02920" y="4069080"/>
            <a:ext cx="11155680" cy="960120"/>
          </a:xfrm>
          <a:prstGeom prst="rect">
            <a:avLst/>
          </a:prstGeom>
          <a:solidFill>
            <a:srgbClr val="EDF1F9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0080" y="4069080"/>
            <a:ext cx="2194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Improves how?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3154680" y="4069080"/>
            <a:ext cx="40233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a developer rewriting the rules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7543800" y="4069080"/>
            <a:ext cx="40233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retraining on new data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02920" y="5029200"/>
            <a:ext cx="11155680" cy="9601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0080" y="5029200"/>
            <a:ext cx="2194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 example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3154680" y="5029200"/>
            <a:ext cx="40233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hard-coded rule: block any transaction over R100,000 from a new device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7543800" y="5029200"/>
            <a:ext cx="40233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model that learns which transaction patterns tend to be fraudulent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FNB B4 AI Bootcamp — Day 1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7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BRINGING IT BACK TO THE INTELLIGENT BANKING SYSTEM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66928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This Fits at FNB B4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691640"/>
            <a:ext cx="11155680" cy="1234440"/>
          </a:xfrm>
          <a:prstGeom prst="roundRect">
            <a:avLst>
              <a:gd name="adj" fmla="val 5926"/>
            </a:avLst>
          </a:prstGeom>
          <a:solidFill>
            <a:srgbClr val="EDF1F9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2039112"/>
            <a:ext cx="548640" cy="548640"/>
          </a:xfrm>
          <a:prstGeom prst="ellipse">
            <a:avLst/>
          </a:prstGeom>
          <a:solidFill>
            <a:srgbClr val="E8791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20391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1828800"/>
            <a:ext cx="29260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Narrow AI / ML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4572000" y="1828800"/>
            <a:ext cx="69037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detection models score every transaction in real time against learned patterns.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02920" y="3108960"/>
            <a:ext cx="11155680" cy="1234440"/>
          </a:xfrm>
          <a:prstGeom prst="roundRect">
            <a:avLst>
              <a:gd name="adj" fmla="val 5926"/>
            </a:avLst>
          </a:prstGeom>
          <a:solidFill>
            <a:srgbClr val="EDF1F9"/>
          </a:solidFill>
          <a:ln/>
        </p:spPr>
      </p:sp>
      <p:sp>
        <p:nvSpPr>
          <p:cNvPr id="10" name="Shape 8"/>
          <p:cNvSpPr/>
          <p:nvPr/>
        </p:nvSpPr>
        <p:spPr>
          <a:xfrm>
            <a:off x="731520" y="3456432"/>
            <a:ext cx="548640" cy="548640"/>
          </a:xfrm>
          <a:prstGeom prst="ellipse">
            <a:avLst/>
          </a:prstGeom>
          <a:solidFill>
            <a:srgbClr val="E8791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31520" y="34564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1508760" y="3246120"/>
            <a:ext cx="29260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Agentic AI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4572000" y="3246120"/>
            <a:ext cx="69037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Tool-using agents that can write, test and refine code against a database — this week's AI capstone.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02920" y="4526280"/>
            <a:ext cx="11155680" cy="1234440"/>
          </a:xfrm>
          <a:prstGeom prst="roundRect">
            <a:avLst>
              <a:gd name="adj" fmla="val 5926"/>
            </a:avLst>
          </a:prstGeom>
          <a:solidFill>
            <a:srgbClr val="EDF1F9"/>
          </a:solidFill>
          <a:ln/>
        </p:spPr>
      </p:sp>
      <p:sp>
        <p:nvSpPr>
          <p:cNvPr id="15" name="Shape 13"/>
          <p:cNvSpPr/>
          <p:nvPr/>
        </p:nvSpPr>
        <p:spPr>
          <a:xfrm>
            <a:off x="731520" y="4873752"/>
            <a:ext cx="548640" cy="548640"/>
          </a:xfrm>
          <a:prstGeom prst="ellipse">
            <a:avLst/>
          </a:prstGeom>
          <a:solidFill>
            <a:srgbClr val="E8791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31520" y="48737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508760" y="4663440"/>
            <a:ext cx="29260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Generative AI / RAG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4572000" y="4663440"/>
            <a:ext cx="69037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support grounded in FNB B4's own policy documents, with citations and safe refusal.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FNB B4 AI Bootcamp — Day 1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7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READINESS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66928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Interview Tips — Explaining These Concepts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11155680" cy="822960"/>
          </a:xfrm>
          <a:prstGeom prst="roundRect">
            <a:avLst>
              <a:gd name="adj" fmla="val 8889"/>
            </a:avLst>
          </a:prstGeom>
          <a:solidFill>
            <a:srgbClr val="1F386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463040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Interviewers use AI/ML/DL loosely on purpose — to see if you'll correct them accurately, not pedantically.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48640" y="2514600"/>
            <a:ext cx="411480" cy="411480"/>
          </a:xfrm>
          <a:prstGeom prst="ellipse">
            <a:avLst/>
          </a:prstGeom>
          <a:solidFill>
            <a:srgbClr val="E8791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2514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143000" y="2468880"/>
            <a:ext cx="10424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with the nested relationship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1143000" y="2788920"/>
            <a:ext cx="10424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“DL is a subset of ML, which is a subset of AI” is the fastest way to show you actually understand the terms, not just recite them.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429000"/>
            <a:ext cx="411480" cy="411480"/>
          </a:xfrm>
          <a:prstGeom prst="ellipse">
            <a:avLst/>
          </a:prstGeom>
          <a:solidFill>
            <a:srgbClr val="E8791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34290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143000" y="3383280"/>
            <a:ext cx="10424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“types of AI” in what exists today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1143000" y="3703320"/>
            <a:ext cx="10424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honest that General and Super AI are not built yet — confusing them with narrow AI is a common, easily-avoided mistake.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4343400"/>
            <a:ext cx="411480" cy="411480"/>
          </a:xfrm>
          <a:prstGeom prst="ellipse">
            <a:avLst/>
          </a:prstGeom>
          <a:solidFill>
            <a:srgbClr val="E8791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" y="43434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143000" y="4297680"/>
            <a:ext cx="10424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banking example unprompted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1143000" y="4617720"/>
            <a:ext cx="10424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detection is a ready-made, concrete ML example that shows you can connect theory to the business.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5257800"/>
            <a:ext cx="411480" cy="411480"/>
          </a:xfrm>
          <a:prstGeom prst="ellipse">
            <a:avLst/>
          </a:prstGeom>
          <a:solidFill>
            <a:srgbClr val="E8791A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48640" y="52578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1143000" y="5212080"/>
            <a:ext cx="10424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the difference between AI and automation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1143000" y="5532120"/>
            <a:ext cx="10424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every automated banking process is “AI” — a fixed rule isn't learning from data. Being able to draw that line signals real understanding.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FNB B4 AI Bootcamp — Day 1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7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READINESS, CONTINUED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66928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Interview Tips — Sample Questions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554480"/>
            <a:ext cx="11155680" cy="1417320"/>
          </a:xfrm>
          <a:prstGeom prst="roundRect">
            <a:avLst>
              <a:gd name="adj" fmla="val 5161"/>
            </a:avLst>
          </a:prstGeom>
          <a:solidFill>
            <a:srgbClr val="EDF1F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1664208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i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“What's the difference between AI and Machine Learning?”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176272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angle: AI is the broad goal (machines behaving intelligently); ML is one way to achieve it, by learning from data rather than hard-coded rules.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" y="3154680"/>
            <a:ext cx="11155680" cy="1417320"/>
          </a:xfrm>
          <a:prstGeom prst="roundRect">
            <a:avLst>
              <a:gd name="adj" fmla="val 5161"/>
            </a:avLst>
          </a:prstGeom>
          <a:solidFill>
            <a:srgbClr val="EDF1F9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31520" y="3264408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i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“Give me an example of narrow AI you've used yourself.”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3776472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angle: pick something concrete and explain why it's narrow — e.g. a spam filter only filters spam, it can't book you a flight.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02920" y="4754880"/>
            <a:ext cx="11155680" cy="1417320"/>
          </a:xfrm>
          <a:prstGeom prst="roundRect">
            <a:avLst>
              <a:gd name="adj" fmla="val 5161"/>
            </a:avLst>
          </a:prstGeom>
          <a:solidFill>
            <a:srgbClr val="EDF1F9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31520" y="4864608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i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“Why did AI go through 'winters'? Could it happen again?”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5376672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angle: hype outpaced results in the 70s and 80s; today's progress is backed by real deployed systems, but staying grounded in what's proven (vs hyped) is still a fair interview answer.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FNB B4 AI Bootcamp — Day 1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4937760"/>
            <a:ext cx="2743200" cy="2743200"/>
          </a:xfrm>
          <a:prstGeom prst="ellipse">
            <a:avLst/>
          </a:prstGeom>
          <a:solidFill>
            <a:srgbClr val="14254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00584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1 Wrap-Up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868680" y="1920240"/>
            <a:ext cx="96926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AI has a 70-year history with two winters and three recent step-changes — generative and agentic AI are the newest.</a:t>
            </a:r>
            <a:endParaRPr lang="en-US" sz="15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Narrow AI is everything in production today; General and Super AI remain theoretical.</a:t>
            </a:r>
            <a:endParaRPr lang="en-US" sz="15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DL ⊂ ML ⊂ AI — each is a subset of the one before it, not an interchangeable synonym.</a:t>
            </a:r>
            <a:endParaRPr lang="en-US" sz="15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You now have two ready answers for common interview questions on this topic.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22960" y="4846320"/>
            <a:ext cx="9692640" cy="1005840"/>
          </a:xfrm>
          <a:prstGeom prst="roundRect">
            <a:avLst>
              <a:gd name="adj" fmla="val 9091"/>
            </a:avLst>
          </a:prstGeom>
          <a:solidFill>
            <a:srgbClr val="E8791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97280" y="4846320"/>
            <a:ext cx="9144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2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Tomorrow — Day 2:  </a:t>
            </a:r>
            <a:pPr indent="0" marL="0">
              <a:buNone/>
            </a:pPr>
            <a:r>
              <a:rPr lang="en-US" sz="1350" dirty="0">
                <a:solidFill>
                  <a:srgbClr val="142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Object-Oriented Analysis &amp; Design and Version Control fundamentals — the engineering foundation the rest of the AI build sits on.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FNB B4 AI Bootcamp — Day 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2026-09-15T19:55:20Z</dcterms:created>
  <dcterms:modified xsi:type="dcterms:W3CDTF">2026-09-15T19:55:20Z</dcterms:modified>
</cp:coreProperties>
</file>